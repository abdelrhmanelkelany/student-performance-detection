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tqOuqLUcUeLjsRP4eaxNpFB0H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2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751012" y="609601"/>
            <a:ext cx="867622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751012" y="3886200"/>
            <a:ext cx="867622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1751013" y="3308581"/>
            <a:ext cx="86868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1751011" y="4777381"/>
            <a:ext cx="868680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1141412" y="2666999"/>
            <a:ext cx="4876800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0612" y="2667000"/>
            <a:ext cx="4876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1429280" y="2658533"/>
            <a:ext cx="458893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1141412" y="3243262"/>
            <a:ext cx="4876800" cy="254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443133" y="2667000"/>
            <a:ext cx="460428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0612" y="3243262"/>
            <a:ext cx="4876801" cy="254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1141411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03812" y="609601"/>
            <a:ext cx="5943601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spcBef>
                <a:spcPts val="600"/>
              </a:spcBef>
              <a:spcAft>
                <a:spcPts val="6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1141411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141411" y="1600200"/>
            <a:ext cx="533400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7433733" y="-18288"/>
            <a:ext cx="3276599" cy="690372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141411" y="2971800"/>
            <a:ext cx="533400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6399212" y="5883275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1141412" y="5883275"/>
            <a:ext cx="5105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10742612" y="5883275"/>
            <a:ext cx="322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1141413" y="4732865"/>
            <a:ext cx="9906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/>
          <p:nvPr>
            <p:ph idx="2" type="pic"/>
          </p:nvPr>
        </p:nvSpPr>
        <p:spPr>
          <a:xfrm>
            <a:off x="19796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4"/>
          <p:cNvSpPr txBox="1"/>
          <p:nvPr>
            <p:ph idx="1" type="body"/>
          </p:nvPr>
        </p:nvSpPr>
        <p:spPr>
          <a:xfrm>
            <a:off x="1141413" y="5299603"/>
            <a:ext cx="9906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24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 txBox="1"/>
          <p:nvPr>
            <p:ph type="title"/>
          </p:nvPr>
        </p:nvSpPr>
        <p:spPr>
          <a:xfrm>
            <a:off x="1141412" y="609601"/>
            <a:ext cx="9905999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" type="body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25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83" name="Google Shape;83;p26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84" name="Google Shape;84;p26"/>
          <p:cNvSpPr txBox="1"/>
          <p:nvPr>
            <p:ph type="title"/>
          </p:nvPr>
        </p:nvSpPr>
        <p:spPr>
          <a:xfrm>
            <a:off x="1446213" y="609601"/>
            <a:ext cx="9296398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" type="body"/>
          </p:nvPr>
        </p:nvSpPr>
        <p:spPr>
          <a:xfrm>
            <a:off x="1674812" y="3352800"/>
            <a:ext cx="88392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Font typeface="Century Gothic"/>
              <a:buNone/>
              <a:defRPr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2" type="body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>
            <a:off x="1141412" y="3308581"/>
            <a:ext cx="99060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>
            <a:off x="1141410" y="4777381"/>
            <a:ext cx="990600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8" name="Google Shape;98;p28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99" name="Google Shape;99;p28"/>
          <p:cNvSpPr txBox="1"/>
          <p:nvPr>
            <p:ph type="title"/>
          </p:nvPr>
        </p:nvSpPr>
        <p:spPr>
          <a:xfrm>
            <a:off x="1446213" y="609601"/>
            <a:ext cx="9296398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" type="body"/>
          </p:nvPr>
        </p:nvSpPr>
        <p:spPr>
          <a:xfrm>
            <a:off x="1141412" y="38862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2" type="body"/>
          </p:nvPr>
        </p:nvSpPr>
        <p:spPr>
          <a:xfrm>
            <a:off x="1141411" y="47752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8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9"/>
          <p:cNvSpPr txBox="1"/>
          <p:nvPr>
            <p:ph type="title"/>
          </p:nvPr>
        </p:nvSpPr>
        <p:spPr>
          <a:xfrm>
            <a:off x="1141412" y="609601"/>
            <a:ext cx="99059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" type="body"/>
          </p:nvPr>
        </p:nvSpPr>
        <p:spPr>
          <a:xfrm>
            <a:off x="1141412" y="3505200"/>
            <a:ext cx="990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2" type="body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9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" type="body"/>
          </p:nvPr>
        </p:nvSpPr>
        <p:spPr>
          <a:xfrm rot="5400000">
            <a:off x="4532312" y="-723899"/>
            <a:ext cx="3124201" cy="9905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 rot="5400000">
            <a:off x="7351354" y="2095143"/>
            <a:ext cx="5181601" cy="2210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 rot="5400000">
            <a:off x="2322512" y="-571500"/>
            <a:ext cx="5181600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302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1751012" y="609601"/>
            <a:ext cx="867622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</a:pPr>
            <a:r>
              <a:rPr lang="en-US"/>
              <a:t>STUDENT PERFORMANCE PREDICTION</a:t>
            </a:r>
            <a:endParaRPr/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1751012" y="3886200"/>
            <a:ext cx="867622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Machine Learning </a:t>
            </a:r>
            <a:endParaRPr/>
          </a:p>
        </p:txBody>
      </p:sp>
      <p:sp>
        <p:nvSpPr>
          <p:cNvPr id="130" name="Google Shape;130;p1"/>
          <p:cNvSpPr txBox="1"/>
          <p:nvPr/>
        </p:nvSpPr>
        <p:spPr>
          <a:xfrm>
            <a:off x="1319492" y="5208479"/>
            <a:ext cx="32735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Dr. Mohammed Elmandouh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8317064" y="4754880"/>
            <a:ext cx="298969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Abdelrahman Elkelany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Abd-Elrahman Younes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Nader Naguib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STUDENT PERFORMANCE PREDICTOR</a:t>
            </a:r>
            <a:br>
              <a:rPr lang="en-US"/>
            </a:br>
            <a:r>
              <a:rPr lang="en-US"/>
              <a:t>MACHINE LEARNING PROJECT</a:t>
            </a:r>
            <a:endParaRPr/>
          </a:p>
        </p:txBody>
      </p:sp>
      <p:sp>
        <p:nvSpPr>
          <p:cNvPr id="137" name="Google Shape;137;p2"/>
          <p:cNvSpPr txBox="1"/>
          <p:nvPr>
            <p:ph idx="1" type="body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Project Introduction :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The Student Performance Predictor applies machine learning techniques to predict students’ academic outcomes, including final numerical grades and letter grades (A–F), based on academic and behavioral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PROBLEM STATEMENT : </a:t>
            </a:r>
            <a:endParaRPr/>
          </a:p>
        </p:txBody>
      </p:sp>
      <p:sp>
        <p:nvSpPr>
          <p:cNvPr id="143" name="Google Shape;143;p3"/>
          <p:cNvSpPr txBox="1"/>
          <p:nvPr>
            <p:ph idx="1" type="body"/>
          </p:nvPr>
        </p:nvSpPr>
        <p:spPr>
          <a:xfrm>
            <a:off x="1141413" y="2514600"/>
            <a:ext cx="9905998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How can student-related data be effectively used to build an intelligent system capable of: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Accurately predicting a student’s final grade Classifying students into appropriate letter-grade categories (A–F)?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Identifying the most influential factors affecting academic success?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DATA PREPROCESSING :</a:t>
            </a:r>
            <a:endParaRPr/>
          </a:p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1141413" y="2054749"/>
            <a:ext cx="9905998" cy="3479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Data preprocessing was performed following standard data science best practices and included the following steps: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Exploratory Data Analysis (EDA) to understand data structure and distributions.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Handling missing values: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Numerical features filled using the median.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Categorical features filled using the mode.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Cleaning categorical text data (lowercasing and trimming whitespace).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Encoding categorical variables using One-Hot Encoding.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Correlation analysis with the target variable (G3).</a:t>
            </a:r>
            <a:endParaRPr/>
          </a:p>
          <a:p>
            <a:pPr indent="0" lvl="0" marL="0" rtl="0" algn="l">
              <a:spcBef>
                <a:spcPts val="95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Splitting the dataset into training and testing sets (80% / 20%) with stratification.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4476584" cy="297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585" y="0"/>
            <a:ext cx="7920915" cy="2982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978903"/>
            <a:ext cx="6262130" cy="3879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2130" y="2978903"/>
            <a:ext cx="5929870" cy="3879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8345" y="-3900"/>
            <a:ext cx="6803655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 program&#10;&#10;Description automatically generated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8346" y="3429000"/>
            <a:ext cx="6803653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 program&#10;&#10;Description automatically generated" id="164" name="Google Shape;164;p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177" y="0"/>
            <a:ext cx="5391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t" dir="5400000" dist="17780">
              <a:srgbClr val="000000">
                <a:alpha val="4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red line with blue and pink squares&#10;&#10;AI-generated content may be incorrect.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70" y="643467"/>
            <a:ext cx="10561261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>
            <p:ph type="title"/>
          </p:nvPr>
        </p:nvSpPr>
        <p:spPr>
          <a:xfrm>
            <a:off x="401216" y="124571"/>
            <a:ext cx="10512611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MACHINE LEARNING MODELS USED : </a:t>
            </a:r>
            <a:endParaRPr/>
          </a:p>
        </p:txBody>
      </p:sp>
      <p:sp>
        <p:nvSpPr>
          <p:cNvPr id="177" name="Google Shape;177;p8"/>
          <p:cNvSpPr txBox="1"/>
          <p:nvPr>
            <p:ph idx="1" type="body"/>
          </p:nvPr>
        </p:nvSpPr>
        <p:spPr>
          <a:xfrm>
            <a:off x="610263" y="3945833"/>
            <a:ext cx="10049122" cy="2453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3600"/>
              <a:t>Regression Models :</a:t>
            </a:r>
            <a:endParaRPr/>
          </a:p>
          <a:p>
            <a:pPr indent="-285750" lvl="1" marL="742950" rtl="0" algn="l">
              <a:spcBef>
                <a:spcPts val="10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Linear Regression</a:t>
            </a:r>
            <a:endParaRPr/>
          </a:p>
          <a:p>
            <a:pPr indent="-285750" lvl="1" marL="742950" rtl="0" algn="l">
              <a:spcBef>
                <a:spcPts val="10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Random Forest</a:t>
            </a:r>
            <a:endParaRPr/>
          </a:p>
          <a:p>
            <a:pPr indent="-285750" lvl="1" marL="742950" rtl="0" algn="l">
              <a:spcBef>
                <a:spcPts val="10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Gradient Boosting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610264" y="879945"/>
            <a:ext cx="1023200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CLASSIFICATION MODELS USED :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610263" y="1539902"/>
            <a:ext cx="10375126" cy="253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 cap="small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10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</a:t>
            </a:r>
            <a:endParaRPr/>
          </a:p>
          <a:p>
            <a:pPr indent="-285750" lvl="1" marL="742950" marR="0" rtl="0" algn="l">
              <a:spcBef>
                <a:spcPts val="10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XGBoost</a:t>
            </a:r>
            <a:endParaRPr/>
          </a:p>
          <a:p>
            <a:pPr indent="-285750" lvl="1" marL="742950" marR="0" rtl="0" algn="l">
              <a:spcBef>
                <a:spcPts val="10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b="0" i="0" lang="en-US" sz="2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Vector Machine(SVM)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8058" y="0"/>
            <a:ext cx="12220058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30" y="3429000"/>
            <a:ext cx="12220059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>
            <p:ph type="title"/>
          </p:nvPr>
        </p:nvSpPr>
        <p:spPr>
          <a:xfrm>
            <a:off x="475861" y="609600"/>
            <a:ext cx="1057155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MODEL EVALUATION METRICS</a:t>
            </a:r>
            <a:endParaRPr/>
          </a:p>
        </p:txBody>
      </p:sp>
      <p:sp>
        <p:nvSpPr>
          <p:cNvPr id="191" name="Google Shape;191;p10"/>
          <p:cNvSpPr txBox="1"/>
          <p:nvPr>
            <p:ph idx="1" type="body"/>
          </p:nvPr>
        </p:nvSpPr>
        <p:spPr>
          <a:xfrm>
            <a:off x="811763" y="2250219"/>
            <a:ext cx="10148184" cy="367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Regression Evaluation Metrics </a:t>
            </a:r>
            <a:endParaRPr/>
          </a:p>
          <a:p>
            <a:pPr indent="-285750" lvl="1" marL="742950" rtl="0" algn="l">
              <a:spcBef>
                <a:spcPts val="88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Mean Absolute Error (MAE)</a:t>
            </a:r>
            <a:endParaRPr/>
          </a:p>
          <a:p>
            <a:pPr indent="-285750" lvl="1" marL="742950" rtl="0" algn="l">
              <a:spcBef>
                <a:spcPts val="88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Mean Squared Error (MSE)</a:t>
            </a:r>
            <a:endParaRPr/>
          </a:p>
          <a:p>
            <a:pPr indent="-285750" lvl="1" marL="742950" rtl="0" algn="l">
              <a:spcBef>
                <a:spcPts val="88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R² Score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Classification Evaluation Metrics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Accuracy </a:t>
            </a:r>
            <a:endParaRPr/>
          </a:p>
          <a:p>
            <a:pPr indent="-285750" lvl="1" marL="742950" rtl="0" algn="l">
              <a:spcBef>
                <a:spcPts val="88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Precision (Weighted)</a:t>
            </a:r>
            <a:endParaRPr/>
          </a:p>
          <a:p>
            <a:pPr indent="-285750" lvl="1" marL="742950" rtl="0" algn="l">
              <a:spcBef>
                <a:spcPts val="88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Recall (Weighted)</a:t>
            </a:r>
            <a:endParaRPr/>
          </a:p>
          <a:p>
            <a:pPr indent="-285750" lvl="1" marL="742950" rtl="0" algn="l">
              <a:spcBef>
                <a:spcPts val="88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F1-Score (Weighted)</a:t>
            </a:r>
            <a:endParaRPr/>
          </a:p>
          <a:p>
            <a:pPr indent="-285750" lvl="1" marL="742950" rtl="0" algn="l">
              <a:spcBef>
                <a:spcPts val="88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 Confusion Matrix 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Additionally, cross-validation was applied to ensure model robustness and reduce the risk of overfitting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643467" y="620720"/>
            <a:ext cx="10928687" cy="5593813"/>
          </a:xfrm>
          <a:prstGeom prst="roundRect">
            <a:avLst>
              <a:gd fmla="val 3812" name="adj"/>
            </a:avLst>
          </a:prstGeom>
          <a:solidFill>
            <a:srgbClr val="FFFFFF"/>
          </a:solidFill>
          <a:ln cap="flat" cmpd="sng" w="38100">
            <a:solidFill>
              <a:srgbClr val="363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graph with a red line&#10;&#10;AI-generated content may be incorrect." id="197" name="Google Shape;19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344" y="1799659"/>
            <a:ext cx="9960933" cy="323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643467" y="620720"/>
            <a:ext cx="10928687" cy="5593813"/>
          </a:xfrm>
          <a:prstGeom prst="roundRect">
            <a:avLst>
              <a:gd fmla="val 3812" name="adj"/>
            </a:avLst>
          </a:prstGeom>
          <a:solidFill>
            <a:srgbClr val="FFFFFF"/>
          </a:solidFill>
          <a:ln cap="flat" cmpd="sng" w="38100">
            <a:solidFill>
              <a:srgbClr val="363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blue squares with black text&#10;&#10;AI-generated content may be incorrect." id="203" name="Google Shape;2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344" y="1799659"/>
            <a:ext cx="9960933" cy="323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/>
          <p:nvPr/>
        </p:nvSpPr>
        <p:spPr>
          <a:xfrm>
            <a:off x="643467" y="643467"/>
            <a:ext cx="5291665" cy="557106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65100" sx="102000" rotWithShape="0" algn="t" dir="5400000" dist="38100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graph with a bar graph&#10;&#10;AI-generated content may be incorrect." id="209" name="Google Shape;20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334" y="1453995"/>
            <a:ext cx="4948242" cy="39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/>
          <p:nvPr/>
        </p:nvSpPr>
        <p:spPr>
          <a:xfrm>
            <a:off x="6256865" y="643467"/>
            <a:ext cx="5291665" cy="557106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65100" sx="102000" rotWithShape="0" algn="t" dir="5400000" dist="38100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 graph of a number of different colored bars&#10;&#10;AI-generated content may be incorrect." id="211" name="Google Shape;21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7732" y="1453995"/>
            <a:ext cx="4948242" cy="3958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2025-12-17T13:30:49Z</dcterms:created>
  <dc:creator>abdelrhmanelkelany4@gmail.com</dc:creator>
</cp:coreProperties>
</file>